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0" r:id="rId3"/>
    <p:sldId id="259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4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2206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high‑demand periods where surge pricing increases revenue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1F916-58F9-4332-408A-7D499312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53A37-E842-A7F7-D127-F37534863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38BF7-3D6F-ECBC-1FFF-316749C5E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A0B8C-B033-68A4-7338-AC2B88D346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4398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1440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20624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85216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18288"/>
          </a:xfrm>
          <a:prstGeom prst="rect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18288"/>
          </a:xfrm>
          <a:prstGeom prst="rect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18288"/>
          </a:xfrm>
          <a:prstGeom prst="rect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7B1FA2">
              <a:alpha val="8000"/>
            </a:srgbClr>
          </a:solidFill>
          <a:ln w="12700">
            <a:solidFill>
              <a:srgbClr val="7B1FA2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00B0FF">
              <a:alpha val="5000"/>
            </a:srgbClr>
          </a:solidFill>
          <a:ln w="12700">
            <a:solidFill>
              <a:srgbClr val="00B0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44805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B0FF"/>
                </a:solidFill>
              </a:rPr>
              <a:t>AGENTIC 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59" y="1463040"/>
            <a:ext cx="912195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 Analytics Reporting  </a:t>
            </a:r>
            <a:r>
              <a:rPr lang="en-US" sz="5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Agent(CARINA)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EC8F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Manual Data Analysis to AI-Driven Data Analysis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2743200" cy="36576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3566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EB3E8"/>
                </a:solidFill>
              </a:rPr>
              <a:t>Current State  →  Future State  →  Business Impact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160520"/>
            <a:ext cx="2148840" cy="292608"/>
          </a:xfrm>
          <a:prstGeom prst="rect">
            <a:avLst/>
          </a:prstGeom>
          <a:solidFill>
            <a:srgbClr val="0D2248"/>
          </a:solidFill>
          <a:ln w="9525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47472" y="4160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0FF"/>
                </a:solidFill>
              </a:rPr>
              <a:t>Data Cleansing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97480" y="4160520"/>
            <a:ext cx="2148840" cy="292608"/>
          </a:xfrm>
          <a:prstGeom prst="rect">
            <a:avLst/>
          </a:prstGeom>
          <a:solidFill>
            <a:srgbClr val="0D2248"/>
          </a:solidFill>
          <a:ln w="9525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697480" y="4160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0FF"/>
                </a:solidFill>
              </a:rPr>
              <a:t>Analytics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0" y="4160520"/>
            <a:ext cx="2148840" cy="292608"/>
          </a:xfrm>
          <a:prstGeom prst="rect">
            <a:avLst/>
          </a:prstGeom>
          <a:solidFill>
            <a:srgbClr val="0D2248"/>
          </a:solidFill>
          <a:ln w="9525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29200" y="4160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0FF"/>
                </a:solidFill>
              </a:rPr>
              <a:t>Intelligent Reporting &amp; Strategy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FUTURE STATE  —  SOLUTION OVERVIEW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347472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Business Benefits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74904" y="1493565"/>
            <a:ext cx="2788920" cy="1737360"/>
          </a:xfrm>
          <a:prstGeom prst="rect">
            <a:avLst/>
          </a:prstGeom>
          <a:solidFill>
            <a:srgbClr val="0D2248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74904" y="1493565"/>
            <a:ext cx="2788920" cy="54864"/>
          </a:xfrm>
          <a:prstGeom prst="rect">
            <a:avLst/>
          </a:prstGeom>
          <a:solidFill>
            <a:srgbClr val="EA80FC"/>
          </a:solidFill>
          <a:ln w="12700">
            <a:solidFill>
              <a:srgbClr val="EA80F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84632" y="1969053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Improve driver allocation (reduce idle time)</a:t>
            </a:r>
          </a:p>
        </p:txBody>
      </p:sp>
      <p:sp>
        <p:nvSpPr>
          <p:cNvPr id="25" name="Text 23"/>
          <p:cNvSpPr/>
          <p:nvPr/>
        </p:nvSpPr>
        <p:spPr>
          <a:xfrm>
            <a:off x="484632" y="2407965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DB8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 more taxis to peak zones during peak hours → more trips per driver. Reduce over‑supply in low‑demand areas → increase fleet efficiency.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srgbClr val="8DB8E8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364992" y="1493565"/>
            <a:ext cx="2788920" cy="1737360"/>
          </a:xfrm>
          <a:prstGeom prst="rect">
            <a:avLst/>
          </a:prstGeom>
          <a:solidFill>
            <a:srgbClr val="0D2248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364992" y="1493565"/>
            <a:ext cx="2788920" cy="54864"/>
          </a:xfrm>
          <a:prstGeom prst="rect">
            <a:avLst/>
          </a:prstGeom>
          <a:solidFill>
            <a:srgbClr val="FFD180"/>
          </a:solidFill>
          <a:ln w="12700">
            <a:solidFill>
              <a:srgbClr val="FFD1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74720" y="1969053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Reduce customer wait time</a:t>
            </a:r>
          </a:p>
        </p:txBody>
      </p:sp>
      <p:sp>
        <p:nvSpPr>
          <p:cNvPr id="30" name="Text 28"/>
          <p:cNvSpPr/>
          <p:nvPr/>
        </p:nvSpPr>
        <p:spPr>
          <a:xfrm>
            <a:off x="3474720" y="2407965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DB8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Predictive dispatching → faster pickups → improved customer satisfaction → more repeat customers.</a:t>
            </a:r>
          </a:p>
        </p:txBody>
      </p:sp>
      <p:sp>
        <p:nvSpPr>
          <p:cNvPr id="31" name="Shape 29"/>
          <p:cNvSpPr/>
          <p:nvPr/>
        </p:nvSpPr>
        <p:spPr>
          <a:xfrm>
            <a:off x="6355080" y="1493565"/>
            <a:ext cx="2788920" cy="1737360"/>
          </a:xfrm>
          <a:prstGeom prst="rect">
            <a:avLst/>
          </a:prstGeom>
          <a:solidFill>
            <a:srgbClr val="0D2248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2" name="Shape 30"/>
          <p:cNvSpPr/>
          <p:nvPr/>
        </p:nvSpPr>
        <p:spPr>
          <a:xfrm>
            <a:off x="6355080" y="1493565"/>
            <a:ext cx="2788920" cy="54864"/>
          </a:xfrm>
          <a:prstGeom prst="rect">
            <a:avLst/>
          </a:prstGeom>
          <a:solidFill>
            <a:srgbClr val="CCFF90"/>
          </a:solidFill>
          <a:ln w="12700">
            <a:solidFill>
              <a:srgbClr val="CCFF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464808" y="1969053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Dynamic pricing opportunities &amp; Reduce Operation Cost</a:t>
            </a:r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589B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Governed, observable, and reusable across every team — no custom infrastructure required.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72FBBE0C-4E36-1680-E6D3-8C2B76AD0F1B}"/>
              </a:ext>
            </a:extLst>
          </p:cNvPr>
          <p:cNvSpPr/>
          <p:nvPr/>
        </p:nvSpPr>
        <p:spPr>
          <a:xfrm>
            <a:off x="6464808" y="2435443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8DB8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Identify high‑demand periods where surge pricing increases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448CE-D046-D1B0-A0D9-B40E3F99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CAF8D87-D257-0BB1-B727-6E8D2987F2C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0FF"/>
          </a:solidFill>
          <a:ln w="12700">
            <a:solidFill>
              <a:srgbClr val="00B0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EEA99C0-6F4F-068C-DEAE-4AEDA5C34ACE}"/>
              </a:ext>
            </a:extLst>
          </p:cNvPr>
          <p:cNvSpPr/>
          <p:nvPr/>
        </p:nvSpPr>
        <p:spPr>
          <a:xfrm>
            <a:off x="91440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A9124BA-355F-3B02-4CC9-BD07CB70D21A}"/>
              </a:ext>
            </a:extLst>
          </p:cNvPr>
          <p:cNvSpPr/>
          <p:nvPr/>
        </p:nvSpPr>
        <p:spPr>
          <a:xfrm>
            <a:off x="256032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E20976C-AC8C-37D2-F8EB-89273E0DBE5C}"/>
              </a:ext>
            </a:extLst>
          </p:cNvPr>
          <p:cNvSpPr/>
          <p:nvPr/>
        </p:nvSpPr>
        <p:spPr>
          <a:xfrm>
            <a:off x="420624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A207D9C-1034-2B1E-2E88-0B0B5862015E}"/>
              </a:ext>
            </a:extLst>
          </p:cNvPr>
          <p:cNvSpPr/>
          <p:nvPr/>
        </p:nvSpPr>
        <p:spPr>
          <a:xfrm>
            <a:off x="585216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5BA8C91-D60C-A62B-F496-A5644BFF5BEB}"/>
              </a:ext>
            </a:extLst>
          </p:cNvPr>
          <p:cNvSpPr/>
          <p:nvPr/>
        </p:nvSpPr>
        <p:spPr>
          <a:xfrm>
            <a:off x="7498080" y="4114800"/>
            <a:ext cx="1280160" cy="36576"/>
          </a:xfrm>
          <a:prstGeom prst="rect">
            <a:avLst/>
          </a:prstGeom>
          <a:solidFill>
            <a:srgbClr val="1E88E5">
              <a:alpha val="20000"/>
            </a:srgbClr>
          </a:solidFill>
          <a:ln w="12700">
            <a:solidFill>
              <a:srgbClr val="1E88E5">
                <a:alpha val="2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9FC422E-5C2D-95D9-B576-D1ABB51425D0}"/>
              </a:ext>
            </a:extLst>
          </p:cNvPr>
          <p:cNvSpPr/>
          <p:nvPr/>
        </p:nvSpPr>
        <p:spPr>
          <a:xfrm>
            <a:off x="457200" y="731520"/>
            <a:ext cx="8229600" cy="18288"/>
          </a:xfrm>
          <a:prstGeom prst="rect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1925AAE-C06F-8CD7-0B16-CF13856E596B}"/>
              </a:ext>
            </a:extLst>
          </p:cNvPr>
          <p:cNvSpPr/>
          <p:nvPr/>
        </p:nvSpPr>
        <p:spPr>
          <a:xfrm>
            <a:off x="457200" y="1737360"/>
            <a:ext cx="8229600" cy="18288"/>
          </a:xfrm>
          <a:prstGeom prst="rect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8C97395-71F2-2900-635E-7CDFC7A60AF1}"/>
              </a:ext>
            </a:extLst>
          </p:cNvPr>
          <p:cNvSpPr/>
          <p:nvPr/>
        </p:nvSpPr>
        <p:spPr>
          <a:xfrm>
            <a:off x="457200" y="2743200"/>
            <a:ext cx="8229600" cy="18288"/>
          </a:xfrm>
          <a:prstGeom prst="rect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212D303-4497-6182-7A2E-8325EBB05EB1}"/>
              </a:ext>
            </a:extLst>
          </p:cNvPr>
          <p:cNvSpPr/>
          <p:nvPr/>
        </p:nvSpPr>
        <p:spPr>
          <a:xfrm>
            <a:off x="457200" y="3749040"/>
            <a:ext cx="8229600" cy="18288"/>
          </a:xfrm>
          <a:prstGeom prst="rect">
            <a:avLst/>
          </a:prstGeom>
          <a:solidFill>
            <a:srgbClr val="1E88E5">
              <a:alpha val="10000"/>
            </a:srgbClr>
          </a:solidFill>
          <a:ln w="12700">
            <a:solidFill>
              <a:srgbClr val="1E88E5">
                <a:alpha val="1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F50935F-421F-A22C-D194-B4BC795C9957}"/>
              </a:ext>
            </a:extLst>
          </p:cNvPr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7B1FA2">
              <a:alpha val="8000"/>
            </a:srgbClr>
          </a:solidFill>
          <a:ln w="12700">
            <a:solidFill>
              <a:srgbClr val="7B1FA2">
                <a:alpha val="8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93E5EC2-E0EE-47D5-F0FB-D8732BB7D793}"/>
              </a:ext>
            </a:extLst>
          </p:cNvPr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00B0FF">
              <a:alpha val="5000"/>
            </a:srgbClr>
          </a:solidFill>
          <a:ln w="12700">
            <a:solidFill>
              <a:srgbClr val="00B0FF">
                <a:alpha val="5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570D6BB-9545-A36A-07E0-DF6E29AD367F}"/>
              </a:ext>
            </a:extLst>
          </p:cNvPr>
          <p:cNvSpPr/>
          <p:nvPr/>
        </p:nvSpPr>
        <p:spPr>
          <a:xfrm>
            <a:off x="347472" y="4160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Cleansing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063BD00-8051-BC70-8254-D7D2F8D20EAF}"/>
              </a:ext>
            </a:extLst>
          </p:cNvPr>
          <p:cNvSpPr/>
          <p:nvPr/>
        </p:nvSpPr>
        <p:spPr>
          <a:xfrm>
            <a:off x="2697480" y="4160520"/>
            <a:ext cx="2148840" cy="292608"/>
          </a:xfrm>
          <a:prstGeom prst="rect">
            <a:avLst/>
          </a:prstGeom>
          <a:solidFill>
            <a:srgbClr val="0D2248"/>
          </a:solidFill>
          <a:ln w="9525">
            <a:solidFill>
              <a:srgbClr val="00B0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7E2B08C1-2F86-CF90-94A5-D8BD6F5FD7B6}"/>
              </a:ext>
            </a:extLst>
          </p:cNvPr>
          <p:cNvSpPr/>
          <p:nvPr/>
        </p:nvSpPr>
        <p:spPr>
          <a:xfrm>
            <a:off x="2697480" y="4160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Analytics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06A8FF0-936F-AE20-856D-C48FCA7751CE}"/>
              </a:ext>
            </a:extLst>
          </p:cNvPr>
          <p:cNvSpPr/>
          <p:nvPr/>
        </p:nvSpPr>
        <p:spPr>
          <a:xfrm>
            <a:off x="5029200" y="4160520"/>
            <a:ext cx="2148840" cy="292608"/>
          </a:xfrm>
          <a:prstGeom prst="rect">
            <a:avLst/>
          </a:prstGeom>
          <a:solidFill>
            <a:srgbClr val="0D2248"/>
          </a:solidFill>
          <a:ln w="9525">
            <a:solidFill>
              <a:srgbClr val="00B0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4EC2572-A5D0-8D42-3CD4-F174372059BA}"/>
              </a:ext>
            </a:extLst>
          </p:cNvPr>
          <p:cNvSpPr/>
          <p:nvPr/>
        </p:nvSpPr>
        <p:spPr>
          <a:xfrm>
            <a:off x="5029200" y="41605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B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Intelligent Reporting &amp; Strategy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FDBBB04-D712-B447-0781-43C340FB9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" y="200787"/>
            <a:ext cx="7315199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8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147</Words>
  <Application>Microsoft Office PowerPoint</Application>
  <PresentationFormat>On-screen Show (16:9)</PresentationFormat>
  <Paragraphs>23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 Agentic Automation – Positioning Deck</dc:title>
  <dc:subject>PptxGenJS Presentation</dc:subject>
  <dc:creator>PptxGenJS</dc:creator>
  <cp:lastModifiedBy>Kannampilly, Treza</cp:lastModifiedBy>
  <cp:revision>8</cp:revision>
  <dcterms:created xsi:type="dcterms:W3CDTF">2026-03-27T14:19:26Z</dcterms:created>
  <dcterms:modified xsi:type="dcterms:W3CDTF">2026-03-28T11:00:26Z</dcterms:modified>
</cp:coreProperties>
</file>